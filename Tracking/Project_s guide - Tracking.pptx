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c0cccff9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c0cccff9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c0cccff9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g34c0cccff95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c0cccff95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g34c0cccff95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c0cccff9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c0cccff9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c0cccff95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c0cccff95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c0cccff95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c0cccff95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c0cccff95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c0cccff95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ccb35a02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ccb35a02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c0cccff95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c0cccff95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c0cccff95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c0cccff95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ccb35a0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ccb35a0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c0cccff95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c0cccff95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c0cccff95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c0cccff95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c0cccff95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4c0cccff95_0_3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c0cccff95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4c0cccff95_0_3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51521" y="195486"/>
            <a:ext cx="67965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51520" y="1005576"/>
            <a:ext cx="8640900" cy="3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◼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◼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◼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◼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7212106" y="4767263"/>
            <a:ext cx="168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51520" y="4767263"/>
            <a:ext cx="331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572000" y="4766749"/>
            <a:ext cx="50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"/>
              <a:buFont typeface="Arial"/>
              <a:buNone/>
              <a:defRPr b="1" i="0" sz="917" u="none" cap="none" strike="noStrike">
                <a:solidFill>
                  <a:srgbClr val="84848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"/>
              <a:buFont typeface="Arial"/>
              <a:buNone/>
              <a:defRPr b="1" i="0" sz="917" u="none" cap="none" strike="noStrike">
                <a:solidFill>
                  <a:srgbClr val="84848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"/>
              <a:buFont typeface="Arial"/>
              <a:buNone/>
              <a:defRPr b="1" i="0" sz="917" u="none" cap="none" strike="noStrike">
                <a:solidFill>
                  <a:srgbClr val="84848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"/>
              <a:buFont typeface="Arial"/>
              <a:buNone/>
              <a:defRPr b="1" i="0" sz="917" u="none" cap="none" strike="noStrike">
                <a:solidFill>
                  <a:srgbClr val="84848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"/>
              <a:buFont typeface="Arial"/>
              <a:buNone/>
              <a:defRPr b="1" i="0" sz="917" u="none" cap="none" strike="noStrike">
                <a:solidFill>
                  <a:srgbClr val="84848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"/>
              <a:buFont typeface="Arial"/>
              <a:buNone/>
              <a:defRPr b="1" i="0" sz="917" u="none" cap="none" strike="noStrike">
                <a:solidFill>
                  <a:srgbClr val="84848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"/>
              <a:buFont typeface="Arial"/>
              <a:buNone/>
              <a:defRPr b="1" i="0" sz="917" u="none" cap="none" strike="noStrike">
                <a:solidFill>
                  <a:srgbClr val="84848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"/>
              <a:buFont typeface="Arial"/>
              <a:buNone/>
              <a:defRPr b="1" i="0" sz="917" u="none" cap="none" strike="noStrike">
                <a:solidFill>
                  <a:srgbClr val="84848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"/>
              <a:buFont typeface="Arial"/>
              <a:buNone/>
              <a:defRPr b="1" i="0" sz="917" u="none" cap="none" strike="noStrike">
                <a:solidFill>
                  <a:srgbClr val="84848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descr="Logo_ufficiale.png" id="56" name="Google Shape;5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2320" y="195486"/>
            <a:ext cx="1008113" cy="576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niccolo.bisagno@unitn.it" TargetMode="External"/><Relationship Id="rId4" Type="http://schemas.openxmlformats.org/officeDocument/2006/relationships/hyperlink" Target="mailto:giulia.martinelli-2@unitn.i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drive/folders/1Q-rtCw4ZDPJQkiilJ8eHLznOjBfu9wUN?usp=share_link" TargetMode="External"/><Relationship Id="rId4" Type="http://schemas.openxmlformats.org/officeDocument/2006/relationships/hyperlink" Target="https://app.roboflow.com/tracking-rybv7" TargetMode="External"/><Relationship Id="rId5" Type="http://schemas.openxmlformats.org/officeDocument/2006/relationships/hyperlink" Target="https://drive.google.com/drive/folders/1XubKVV17PyYkZ7okoGtY8wFOGA_sDTWO?usp=share_link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pSOvqb4Z7jzE-IYfsqSxvAU1xkGLQ1Ej/view" TargetMode="External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CV Projects</a:t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618700" cy="16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Tracking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Tutor contacts: </a:t>
            </a:r>
            <a:r>
              <a:rPr lang="it" u="sng">
                <a:solidFill>
                  <a:schemeClr val="hlink"/>
                </a:solidFill>
                <a:hlinkClick r:id="rId3"/>
              </a:rPr>
              <a:t>niccolo.bisagno@unitn.it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solidFill>
                  <a:schemeClr val="hlink"/>
                </a:solidFill>
                <a:hlinkClick r:id="rId4"/>
              </a:rPr>
              <a:t>giulia.martinelli-2@unitn.it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251521" y="195486"/>
            <a:ext cx="67965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8075" lIns="76175" spcFirstLastPara="1" rIns="76175" wrap="square" tIns="3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it"/>
              <a:t>Projects for A.Y. 2024-2025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251520" y="1005576"/>
            <a:ext cx="8640900" cy="3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175" spcFirstLastPara="1" rIns="76175" wrap="square" tIns="380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/>
              <a:t>What we expect:</a:t>
            </a:r>
            <a:endParaRPr/>
          </a:p>
          <a:p>
            <a:pPr indent="-255261" lvl="1" marL="428608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it"/>
              <a:t>Look for state of art methods</a:t>
            </a:r>
            <a:endParaRPr/>
          </a:p>
          <a:p>
            <a:pPr indent="-255261" lvl="1" marL="428608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it"/>
              <a:t>Implement and test</a:t>
            </a:r>
            <a:endParaRPr/>
          </a:p>
          <a:p>
            <a:pPr indent="-255261" lvl="1" marL="428608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it"/>
              <a:t>Improve</a:t>
            </a:r>
            <a:endParaRPr/>
          </a:p>
          <a:p>
            <a:pPr indent="-255261" lvl="1" marL="428608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it"/>
              <a:t>Read as much as you can</a:t>
            </a:r>
            <a:endParaRPr/>
          </a:p>
          <a:p>
            <a:pPr indent="-255261" lvl="1" marL="428608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it"/>
              <a:t>Make assumptions</a:t>
            </a:r>
            <a:endParaRPr/>
          </a:p>
          <a:p>
            <a:pPr indent="-255261" lvl="1" marL="428608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it"/>
              <a:t>Record videos</a:t>
            </a:r>
            <a:endParaRPr/>
          </a:p>
          <a:p>
            <a:pPr indent="-255261" lvl="1" marL="428608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it"/>
              <a:t>Use pre-recorded data</a:t>
            </a:r>
            <a:endParaRPr/>
          </a:p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7212106" y="4767263"/>
            <a:ext cx="168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175" spcFirstLastPara="1" rIns="76175" wrap="square" tIns="380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University of Trento</a:t>
            </a:r>
            <a:endParaRPr/>
          </a:p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251520" y="4767263"/>
            <a:ext cx="331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175" spcFirstLastPara="1" rIns="76175" wrap="square" tIns="3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Computer Vision</a:t>
            </a:r>
            <a:endParaRPr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4572000" y="4766749"/>
            <a:ext cx="50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175" spcFirstLastPara="1" rIns="76175" wrap="square" tIns="3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251521" y="195486"/>
            <a:ext cx="67965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8075" lIns="76175" spcFirstLastPara="1" rIns="76175" wrap="square" tIns="3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it"/>
              <a:t>Projects for A.Y. 2024-2025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251520" y="1005576"/>
            <a:ext cx="8640900" cy="3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175" spcFirstLastPara="1" rIns="76175" wrap="square" tIns="380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/>
              <a:t>What we expect when ask for a meeting?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Show that you tried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Show difficulties encountered and actions taken to resolve</a:t>
            </a:r>
            <a:endParaRPr/>
          </a:p>
        </p:txBody>
      </p:sp>
      <p:sp>
        <p:nvSpPr>
          <p:cNvPr id="78" name="Google Shape;78;p16"/>
          <p:cNvSpPr txBox="1"/>
          <p:nvPr>
            <p:ph idx="10" type="dt"/>
          </p:nvPr>
        </p:nvSpPr>
        <p:spPr>
          <a:xfrm>
            <a:off x="7212106" y="4767263"/>
            <a:ext cx="168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175" spcFirstLastPara="1" rIns="76175" wrap="square" tIns="380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University of Trento</a:t>
            </a:r>
            <a:endParaRPr/>
          </a:p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251520" y="4767263"/>
            <a:ext cx="331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175" spcFirstLastPara="1" rIns="76175" wrap="square" tIns="38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Computer Vision</a:t>
            </a:r>
            <a:endParaRPr/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4572000" y="4766749"/>
            <a:ext cx="50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75" lIns="76175" spcFirstLastPara="1" rIns="76175" wrap="square" tIns="3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Notes!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Deep Learning is welcome, but not required (we cannot provide GPUs)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Videos are for internal use only. Do not share them.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The evaluation of your project depends more on your interaction with the tutor rather than on the numerical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The goal of the project is for you to learn something and face the real-world 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The project is individual for each group, but you are allowed to communicate, share ideas, share best practices. It is not a competition.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Anyone does not have a group and would like to join one?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Sanbapolis facility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2525" y="1017725"/>
            <a:ext cx="6840500" cy="374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6425" y="-8"/>
            <a:ext cx="9144003" cy="4982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Project Goal and step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13200"/>
            <a:ext cx="8520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it"/>
              <a:t>Using the multi-view camera setup at Sanbapolis, track players and the ball</a:t>
            </a:r>
            <a:endParaRPr b="1"/>
          </a:p>
        </p:txBody>
      </p:sp>
      <p:sp>
        <p:nvSpPr>
          <p:cNvPr id="106" name="Google Shape;106;p20"/>
          <p:cNvSpPr txBox="1"/>
          <p:nvPr/>
        </p:nvSpPr>
        <p:spPr>
          <a:xfrm>
            <a:off x="426425" y="1658150"/>
            <a:ext cx="8232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it">
                <a:solidFill>
                  <a:schemeClr val="dk2"/>
                </a:solidFill>
              </a:rPr>
              <a:t>Annotate bounding boxes for players, referees, and the ball in each camera view.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it">
                <a:solidFill>
                  <a:schemeClr val="dk2"/>
                </a:solidFill>
              </a:rPr>
              <a:t>Perform 2D tracking of players and the ball across frames for each camera. 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eriod"/>
            </a:pPr>
            <a:r>
              <a:rPr lang="it">
                <a:solidFill>
                  <a:schemeClr val="dk2"/>
                </a:solidFill>
              </a:rPr>
              <a:t>Provide numerical results for the annotated ones.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it">
                <a:solidFill>
                  <a:schemeClr val="dk2"/>
                </a:solidFill>
              </a:rPr>
              <a:t>Reconstruct 3D trajectories of players (center of bounding boxes) and the ball using triangulation across multiple camera views.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lphaLcPeriod"/>
            </a:pPr>
            <a:r>
              <a:rPr lang="it">
                <a:solidFill>
                  <a:schemeClr val="dk2"/>
                </a:solidFill>
              </a:rPr>
              <a:t>Provide numerical results for the annotated ones.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it">
                <a:solidFill>
                  <a:schemeClr val="dk2"/>
                </a:solidFill>
              </a:rPr>
              <a:t>Visualize the 3D tracking by importing the reconstructed motion into Unreal Engine.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502825" y="4095125"/>
            <a:ext cx="835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</a:rPr>
              <a:t>Team of 1 pp: task 1,2,2a,3 is mandatory using one camera. Bonus: task 3a.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</a:rPr>
              <a:t>Team of 2 pp: </a:t>
            </a:r>
            <a:r>
              <a:rPr lang="it" sz="1200">
                <a:solidFill>
                  <a:schemeClr val="dk2"/>
                </a:solidFill>
              </a:rPr>
              <a:t>task 1,2,2a,3,3a is mandatory using two cameras. Bonus: task 4.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</a:rPr>
              <a:t>Team of 3 pp: task 1,2,2a,3,3a,4 is mandatory using two cameras. Bonus: use 3 cameras.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Material</a:t>
            </a:r>
            <a:endParaRPr/>
          </a:p>
        </p:txBody>
      </p:sp>
      <p:sp>
        <p:nvSpPr>
          <p:cNvPr id="113" name="Google Shape;113;p21"/>
          <p:cNvSpPr txBox="1"/>
          <p:nvPr/>
        </p:nvSpPr>
        <p:spPr>
          <a:xfrm>
            <a:off x="426425" y="1017725"/>
            <a:ext cx="8232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it"/>
              <a:t>presentation, data </a:t>
            </a:r>
            <a:r>
              <a:rPr lang="it" u="sng">
                <a:solidFill>
                  <a:schemeClr val="hlink"/>
                </a:solidFill>
                <a:hlinkClick r:id="rId3"/>
              </a:rPr>
              <a:t>https://drive.google.com/drive/folders/1Q-rtCw4ZDPJQkiilJ8eHLznOjBfu9wUN?usp=share_link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it">
                <a:solidFill>
                  <a:schemeClr val="dk2"/>
                </a:solidFill>
              </a:rPr>
              <a:t>Roboflow </a:t>
            </a:r>
            <a:r>
              <a:rPr lang="it" u="sng">
                <a:solidFill>
                  <a:schemeClr val="hlink"/>
                </a:solidFill>
                <a:hlinkClick r:id="rId4"/>
              </a:rPr>
              <a:t>https://app.roboflow.com/tracking-rybv7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it">
                <a:solidFill>
                  <a:schemeClr val="dk2"/>
                </a:solidFill>
              </a:rPr>
              <a:t>Best project from last year CV course </a:t>
            </a:r>
            <a:r>
              <a:rPr lang="it" u="sng">
                <a:solidFill>
                  <a:schemeClr val="hlink"/>
                </a:solidFill>
                <a:hlinkClick r:id="rId5"/>
              </a:rPr>
              <a:t>https://drive.google.com/drive/folders/1XubKVV17PyYkZ7okoGtY8wFOGA_sDTWO?usp=share_link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There are </a:t>
            </a:r>
            <a:r>
              <a:rPr lang="it"/>
              <a:t>3</a:t>
            </a:r>
            <a:r>
              <a:rPr lang="it"/>
              <a:t> camera </a:t>
            </a:r>
            <a:r>
              <a:rPr lang="it"/>
              <a:t>viewpoint</a:t>
            </a:r>
            <a:r>
              <a:rPr lang="it"/>
              <a:t> for each action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One action per group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Around 100 frames per person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if your team is made up of 1 pp -&gt; annotate only out13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if your team is made up of 2 pp -&gt; annotate out13 + out4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if your team is made up of 3 pp -&gt; annotate out13 + out4 + out2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register to Roboflow (one account per group)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it"/>
              <a:t>send to the tutor one email per group to be added to Roboflow</a:t>
            </a:r>
            <a:endParaRPr b="1"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for testing and evaluation it is mandatory to use at least the action you have annotated. You can test and evaluate on actions annotated by other groups.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it"/>
              <a:t>Annotate Bounding Boxes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it"/>
              <a:t>Annotate Bounding Boxes</a:t>
            </a:r>
            <a:endParaRPr/>
          </a:p>
        </p:txBody>
      </p:sp>
      <p:pic>
        <p:nvPicPr>
          <p:cNvPr id="125" name="Google Shape;125;p23" title="Tutorial annotation CV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5350" y="1086950"/>
            <a:ext cx="6939776" cy="3903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2) 2D Tracking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Annotation is performed at 5 fps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Perform tracking at native frame rate (25fps)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Use standard metrics for evaluation (search state of the art, e.g. IOU)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3) 3D Tracking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25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Goal: Use camera parameters to perform triangulation of the tracked/GT 3D positions of the </a:t>
            </a:r>
            <a:r>
              <a:rPr lang="it"/>
              <a:t>players and the ball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Rectified the video at input (code is provided. Remember: if you rectify the video you also have to apply the same transformation to the GT/the coordinates you have tracked).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Triangulation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Display 3D position of players and ball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381950" y="4086775"/>
            <a:ext cx="808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3a) Provide results using common tracking metrics (eg. trajectories metrics, …</a:t>
            </a:r>
            <a:r>
              <a:rPr lang="it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4) (Bonus) Unreal Engine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Display 3D data on Unreal. (contact tutor </a:t>
            </a:r>
            <a:r>
              <a:rPr lang="it"/>
              <a:t>for</a:t>
            </a:r>
            <a:r>
              <a:rPr lang="it"/>
              <a:t> more details)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251521" y="195486"/>
            <a:ext cx="67965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it" sz="3600"/>
              <a:t>How do I deliver my project?</a:t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251520" y="1005576"/>
            <a:ext cx="8640900" cy="3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90492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it" sz="1400"/>
              <a:t>Share with tutor a drive folder containing:</a:t>
            </a:r>
            <a:endParaRPr sz="1400"/>
          </a:p>
          <a:p>
            <a:pPr indent="-330200" lvl="2" marL="1371600" rtl="0" algn="l">
              <a:spcBef>
                <a:spcPts val="50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lang="it"/>
              <a:t>Code (on a zip + git)</a:t>
            </a:r>
            <a:endParaRPr/>
          </a:p>
          <a:p>
            <a:pPr indent="-330200" lvl="2" marL="1371600" rtl="0" algn="l">
              <a:spcBef>
                <a:spcPts val="50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lang="it"/>
              <a:t>Dataset (if not standard)</a:t>
            </a:r>
            <a:endParaRPr/>
          </a:p>
          <a:p>
            <a:pPr indent="-330200" lvl="2" marL="1371600" rtl="0" algn="l">
              <a:spcBef>
                <a:spcPts val="50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lang="it"/>
              <a:t>Report with results (max 3-6 pages) (LNCS format, PDF)</a:t>
            </a:r>
            <a:endParaRPr/>
          </a:p>
          <a:p>
            <a:pPr indent="-342900" lvl="2" marL="1371600" rtl="0" algn="l"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it"/>
              <a:t>Video results</a:t>
            </a:r>
            <a:endParaRPr/>
          </a:p>
          <a:p>
            <a:pPr indent="-330200" lvl="2" marL="1371600" rtl="0" algn="l">
              <a:spcBef>
                <a:spcPts val="50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lang="it"/>
              <a:t>Video (5 minutes) including</a:t>
            </a:r>
            <a:endParaRPr/>
          </a:p>
          <a:p>
            <a:pPr indent="-330200" lvl="3" marL="1828800" rtl="0" algn="l"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it"/>
              <a:t>Motivations and background</a:t>
            </a:r>
            <a:endParaRPr/>
          </a:p>
          <a:p>
            <a:pPr indent="-330200" lvl="3" marL="1828800" rtl="0" algn="l"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it"/>
              <a:t>State-of-the-Art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it"/>
              <a:t>Deadline: whenever you want. If you want to have the mark registered in a specific session, please submit your project one week before the oral exam date</a:t>
            </a:r>
            <a:endParaRPr/>
          </a:p>
        </p:txBody>
      </p:sp>
      <p:sp>
        <p:nvSpPr>
          <p:cNvPr id="151" name="Google Shape;151;p27"/>
          <p:cNvSpPr txBox="1"/>
          <p:nvPr>
            <p:ph idx="12" type="sldNum"/>
          </p:nvPr>
        </p:nvSpPr>
        <p:spPr>
          <a:xfrm>
            <a:off x="4572000" y="4766749"/>
            <a:ext cx="50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251521" y="195486"/>
            <a:ext cx="67965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it" sz="3600"/>
              <a:t>Project’s Score</a:t>
            </a:r>
            <a:endParaRPr/>
          </a:p>
        </p:txBody>
      </p:sp>
      <p:sp>
        <p:nvSpPr>
          <p:cNvPr id="157" name="Google Shape;157;p28"/>
          <p:cNvSpPr txBox="1"/>
          <p:nvPr>
            <p:ph idx="12" type="sldNum"/>
          </p:nvPr>
        </p:nvSpPr>
        <p:spPr>
          <a:xfrm>
            <a:off x="4572000" y="4766749"/>
            <a:ext cx="50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206870" y="916626"/>
            <a:ext cx="8640900" cy="3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Written exam score: 12 points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Max project score: 18 points + 1 bonus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◼"/>
            </a:pPr>
            <a:r>
              <a:rPr lang="it"/>
              <a:t>Video (6pt)	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◼"/>
            </a:pPr>
            <a:r>
              <a:rPr lang="it"/>
              <a:t>Code(6pt)	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◼"/>
            </a:pPr>
            <a:r>
              <a:rPr lang="it"/>
              <a:t>Report (2pt)	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◼"/>
            </a:pPr>
            <a:r>
              <a:rPr lang="it"/>
              <a:t>Supplementary (e.g sample video results) (2pt)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◼"/>
            </a:pPr>
            <a:r>
              <a:rPr lang="it"/>
              <a:t>Independence in carrying out a project (2pt)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◼"/>
            </a:pPr>
            <a:r>
              <a:rPr lang="it"/>
              <a:t>Bonus Task (1pt)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